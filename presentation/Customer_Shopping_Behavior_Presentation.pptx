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bf98df-50f0-399a-5aa0-8a1317f2e006}">
          <p14:sldIdLst>
            <p14:sldId id="256"/>
            <p14:sldId id="257"/>
            <p14:sldId id="258"/>
          </p14:sldIdLst>
        </p14:section>
        <p14:section name="Method" id="{d617bc93-ef22-1a86-27f3-899f3fd6b0b5}">
          <p14:sldIdLst>
            <p14:sldId id="259"/>
            <p14:sldId id="260"/>
            <p14:sldId id="261"/>
            <p14:sldId id="262"/>
          </p14:sldIdLst>
        </p14:section>
        <p14:section name="Results" id="{c1341d3c-d2aa-1714-ba5d-79f52c858804}">
          <p14:sldIdLst>
            <p14:sldId id="263"/>
          </p14:sldIdLst>
        </p14:section>
        <p14:section name="Wrap-up" id="{ec303830-1539-75c5-1822-af518a8accf6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C8A"/>
              </a:solidFill>
              <a:effectLst/>
            </c:spPr>
          </c:dPt>
          <c:dPt>
            <c:idx val="1"/>
            <c:bubble3D val="0"/>
            <c:spPr>
              <a:solidFill>
                <a:srgbClr val="F28C3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subscription</c:v>
                </c:pt>
                <c:pt idx="1">
                  <c:v>Subscribed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retail customer analysis built with Python, PostgreSQL and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question is how shopping data can support better marketing, discount, subscription and retention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3,900 purchase records and 18 columns. 37 review ratings were missing and were filled during cleaning.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prepares, PostgreSQL analyses, Power BI communicates.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imputation by category keeps the fill values realistic. The promo code column duplicated discount_applied in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maps to a query in the SQL script. Mention the mix of aggregation, subqueries, CTEs and window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 are defined in SQL from the previous_purchases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come from the dashboard headline cards and the subscription donut. Add your validated SQL findings here once the queries are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follow the analysis areas. Prioritize them after validating the SQL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validation steps and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3736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93192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Customer Shopping Behavior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737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Customer Shopping Behavior Analysis</a:t>
            </a:r>
            <a:endParaRPr lang="en-US" sz="4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931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Python • PostgreSQL • Power BI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Prepared by Anand Shelake</a:t>
            </a:r>
            <a:endParaRPr lang="en-US" sz="1600" dirty="0"/>
          </a:p>
        </p:txBody>
      </p:sp>
      <p:sp>
        <p:nvSpPr>
          <p:cNvPr id="5" name="Chart circle"/>
          <p:cNvSpPr/>
          <p:nvPr/>
        </p:nvSpPr>
        <p:spPr>
          <a:xfrm>
            <a:off x="8138160" y="118872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art icon" descr="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965960"/>
            <a:ext cx="1554480" cy="1554480"/>
          </a:xfrm>
          <a:prstGeom prst="rect">
            <a:avLst/>
          </a:prstGeom>
        </p:spPr>
      </p:pic>
      <p:sp>
        <p:nvSpPr>
          <p:cNvPr id="7" name="Cart circle"/>
          <p:cNvSpPr/>
          <p:nvPr/>
        </p:nvSpPr>
        <p:spPr>
          <a:xfrm>
            <a:off x="9692640" y="402336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Cart icon" descr="Car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480560"/>
            <a:ext cx="914400" cy="914400"/>
          </a:xfrm>
          <a:prstGeom prst="rect">
            <a:avLst/>
          </a:prstGeom>
        </p:spPr>
      </p:pic>
      <p:sp>
        <p:nvSpPr>
          <p:cNvPr id="9" name="Database circle"/>
          <p:cNvSpPr/>
          <p:nvPr/>
        </p:nvSpPr>
        <p:spPr>
          <a:xfrm>
            <a:off x="7772400" y="429768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Database icon" descr="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464058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business problem</a:t>
            </a:r>
            <a:endParaRPr lang="en-US" sz="3400" dirty="0"/>
          </a:p>
        </p:txBody>
      </p:sp>
      <p:sp>
        <p:nvSpPr>
          <p:cNvPr id="3" name="Question card"/>
          <p:cNvSpPr/>
          <p:nvPr/>
        </p:nvSpPr>
        <p:spPr>
          <a:xfrm>
            <a:off x="548640" y="1463040"/>
            <a:ext cx="47548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QUESTION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tx2"/>
                </a:solidFill>
              </a:rPr>
              <a:t>How can a retailer use shopping data to improve marketing, discounts, subscriptions and retention?</a:t>
            </a:r>
            <a:endParaRPr lang="en-US" sz="2600" dirty="0"/>
          </a:p>
        </p:txBody>
      </p:sp>
      <p:sp>
        <p:nvSpPr>
          <p:cNvPr id="6" name="Understand purchase patterns circle"/>
          <p:cNvSpPr/>
          <p:nvPr/>
        </p:nvSpPr>
        <p:spPr>
          <a:xfrm>
            <a:off x="576072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Understand purchase patterns icon" descr="Understand purchase patter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0" y="14630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Understand purchase patterns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Spending, products, ratings and seasons across customer groups</a:t>
            </a:r>
            <a:endParaRPr lang="en-US" sz="1800" dirty="0"/>
          </a:p>
        </p:txBody>
      </p:sp>
      <p:sp>
        <p:nvSpPr>
          <p:cNvPr id="9" name="Compare buying behavior circle"/>
          <p:cNvSpPr/>
          <p:nvPr/>
        </p:nvSpPr>
        <p:spPr>
          <a:xfrm>
            <a:off x="576072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ompare buying behavior icon" descr="Compare buying behavio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971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265176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Compare buying behavior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Discounts, shipping types and subscription status</a:t>
            </a:r>
            <a:endParaRPr lang="en-US" sz="1800" dirty="0"/>
          </a:p>
        </p:txBody>
      </p:sp>
      <p:sp>
        <p:nvSpPr>
          <p:cNvPr id="12" name="Segment customers circle"/>
          <p:cNvSpPr/>
          <p:nvPr/>
        </p:nvSpPr>
        <p:spPr>
          <a:xfrm>
            <a:off x="5760720" y="3977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egment customers icon" descr="Segment custom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160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384048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Segment customers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New, Returning and Loyal groups by purchase history</a:t>
            </a:r>
            <a:endParaRPr lang="en-US" sz="1800" dirty="0"/>
          </a:p>
        </p:txBody>
      </p:sp>
      <p:sp>
        <p:nvSpPr>
          <p:cNvPr id="15" name="Share insights visually circle"/>
          <p:cNvSpPr/>
          <p:nvPr/>
        </p:nvSpPr>
        <p:spPr>
          <a:xfrm>
            <a:off x="5760720" y="5166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Share insights visually icon" descr="Share insights visuall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3492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502920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Share insights visually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interactive Power BI dashboard for stakeholders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dataset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514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3,900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purchase records</a:t>
            </a:r>
            <a:endParaRPr lang="en-US" sz="2000" dirty="0"/>
          </a:p>
        </p:txBody>
      </p:sp>
      <p:sp>
        <p:nvSpPr>
          <p:cNvPr id="6" name="Stat card 2"/>
          <p:cNvSpPr/>
          <p:nvPr/>
        </p:nvSpPr>
        <p:spPr>
          <a:xfrm>
            <a:off x="4337304" y="146304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37304" y="1691640"/>
            <a:ext cx="3514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18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4337304" y="3017520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original columns</a:t>
            </a:r>
            <a:endParaRPr lang="en-US" sz="2000" dirty="0"/>
          </a:p>
        </p:txBody>
      </p:sp>
      <p:sp>
        <p:nvSpPr>
          <p:cNvPr id="9" name="Stat card 3"/>
          <p:cNvSpPr/>
          <p:nvPr/>
        </p:nvSpPr>
        <p:spPr>
          <a:xfrm>
            <a:off x="8125968" y="1463040"/>
            <a:ext cx="3514344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25968" y="1691640"/>
            <a:ext cx="3514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37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8125968" y="3017520"/>
            <a:ext cx="3514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missing review ratings</a:t>
            </a:r>
            <a:endParaRPr lang="en-US" sz="2000" dirty="0"/>
          </a:p>
        </p:txBody>
      </p:sp>
      <p:sp>
        <p:nvSpPr>
          <p:cNvPr id="12" name="Field group 1"/>
          <p:cNvSpPr/>
          <p:nvPr/>
        </p:nvSpPr>
        <p:spPr>
          <a:xfrm>
            <a:off x="548640" y="4389120"/>
            <a:ext cx="35143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2628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Customer demographics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gender, location, subscription status</a:t>
            </a:r>
            <a:endParaRPr lang="en-US" sz="1800" dirty="0"/>
          </a:p>
        </p:txBody>
      </p:sp>
      <p:sp>
        <p:nvSpPr>
          <p:cNvPr id="14" name="Field group 2"/>
          <p:cNvSpPr/>
          <p:nvPr/>
        </p:nvSpPr>
        <p:spPr>
          <a:xfrm>
            <a:off x="4337304" y="4389120"/>
            <a:ext cx="35143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1624" y="452628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Purchase details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Item, category, purchase amount, season, size, colour</a:t>
            </a:r>
            <a:endParaRPr lang="en-US" sz="1800" dirty="0"/>
          </a:p>
        </p:txBody>
      </p:sp>
      <p:sp>
        <p:nvSpPr>
          <p:cNvPr id="16" name="Field group 3"/>
          <p:cNvSpPr/>
          <p:nvPr/>
        </p:nvSpPr>
        <p:spPr>
          <a:xfrm>
            <a:off x="8125968" y="4389120"/>
            <a:ext cx="351434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0288" y="4526280"/>
            <a:ext cx="29657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Shopping behavior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Discount, previous purchases, frequency, review rating, shipping type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workflow</a:t>
            </a:r>
            <a:endParaRPr lang="en-US" sz="3400" dirty="0"/>
          </a:p>
        </p:txBody>
      </p:sp>
      <p:sp>
        <p:nvSpPr>
          <p:cNvPr id="3" name="Python (Pandas) card"/>
          <p:cNvSpPr/>
          <p:nvPr/>
        </p:nvSpPr>
        <p:spPr>
          <a:xfrm>
            <a:off x="548640" y="1554480"/>
            <a:ext cx="3200400" cy="42062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Python (Pandas) circle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ython (Pandas) icon" descr="Python (Pandas)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PREPARE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Python (Pandas)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Inspect the data, fill missing ratings, standardize columns and engineer new features</a:t>
            </a:r>
            <a:endParaRPr lang="en-US" sz="1600" dirty="0"/>
          </a:p>
        </p:txBody>
      </p:sp>
      <p:sp>
        <p:nvSpPr>
          <p:cNvPr id="9" name="Arrow 1"/>
          <p:cNvSpPr/>
          <p:nvPr/>
        </p:nvSpPr>
        <p:spPr>
          <a:xfrm>
            <a:off x="3893058" y="3429000"/>
            <a:ext cx="45720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PostgreSQL card"/>
          <p:cNvSpPr/>
          <p:nvPr/>
        </p:nvSpPr>
        <p:spPr>
          <a:xfrm>
            <a:off x="4494276" y="1554480"/>
            <a:ext cx="3200400" cy="42062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1" name="PostgreSQL circle"/>
          <p:cNvSpPr/>
          <p:nvPr/>
        </p:nvSpPr>
        <p:spPr>
          <a:xfrm>
            <a:off x="4814316" y="18745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ostgreSQL icon" descr="PostgreSQ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14316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ANALYZE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814316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PostgreSQL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814316" y="38404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Store the prepared table and answer ten business questions with SQL</a:t>
            </a:r>
            <a:endParaRPr lang="en-US" sz="1600" dirty="0"/>
          </a:p>
        </p:txBody>
      </p:sp>
      <p:sp>
        <p:nvSpPr>
          <p:cNvPr id="16" name="Arrow 2"/>
          <p:cNvSpPr/>
          <p:nvPr/>
        </p:nvSpPr>
        <p:spPr>
          <a:xfrm>
            <a:off x="7838694" y="3429000"/>
            <a:ext cx="45720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Power BI card"/>
          <p:cNvSpPr/>
          <p:nvPr/>
        </p:nvSpPr>
        <p:spPr>
          <a:xfrm>
            <a:off x="8439912" y="1554480"/>
            <a:ext cx="3200400" cy="42062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8" name="Power BI circle"/>
          <p:cNvSpPr/>
          <p:nvPr/>
        </p:nvSpPr>
        <p:spPr>
          <a:xfrm>
            <a:off x="8759952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Power BI icon" descr="Power BI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2103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59952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COMMUNICATE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59952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Power BI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8759952" y="38404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Interactive dashboard with filters for subscription, gender, category and shipping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Jupyter Notebook ties the preparation and database-loading steps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 preparation and feature engineering</a:t>
            </a:r>
            <a:endParaRPr lang="en-US" sz="3400" dirty="0"/>
          </a:p>
        </p:txBody>
      </p:sp>
      <p:sp>
        <p:nvSpPr>
          <p:cNvPr id="3" name="Missing review ratings card"/>
          <p:cNvSpPr/>
          <p:nvPr/>
        </p:nvSpPr>
        <p:spPr>
          <a:xfrm>
            <a:off x="548640" y="1463040"/>
            <a:ext cx="540867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Missing review ratings circle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issing review ratings icon" descr="Missing review ratin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691640"/>
            <a:ext cx="3671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Missing review ratings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37 gaps filled with the median rating of each product category</a:t>
            </a:r>
            <a:endParaRPr lang="en-US" sz="2000" dirty="0"/>
          </a:p>
        </p:txBody>
      </p:sp>
      <p:sp>
        <p:nvSpPr>
          <p:cNvPr id="7" name="Standardized columns card"/>
          <p:cNvSpPr/>
          <p:nvPr/>
        </p:nvSpPr>
        <p:spPr>
          <a:xfrm>
            <a:off x="6231636" y="1463040"/>
            <a:ext cx="540867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Standardized columns circle"/>
          <p:cNvSpPr/>
          <p:nvPr/>
        </p:nvSpPr>
        <p:spPr>
          <a:xfrm>
            <a:off x="6551676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tandardized columns icon" descr="Standardized colum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0345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48956" y="1691640"/>
            <a:ext cx="3671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Standardized columns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Lowercase names with underscores; purchase_amount_(usd) became purchase_amount</a:t>
            </a:r>
            <a:endParaRPr lang="en-US" sz="2000" dirty="0"/>
          </a:p>
        </p:txBody>
      </p:sp>
      <p:sp>
        <p:nvSpPr>
          <p:cNvPr id="11" name="New features card"/>
          <p:cNvSpPr/>
          <p:nvPr/>
        </p:nvSpPr>
        <p:spPr>
          <a:xfrm>
            <a:off x="548640" y="3886200"/>
            <a:ext cx="540867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New features circle"/>
          <p:cNvSpPr/>
          <p:nvPr/>
        </p:nvSpPr>
        <p:spPr>
          <a:xfrm>
            <a:off x="868680" y="4251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New features icon" descr="New featur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4577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65960" y="4114800"/>
            <a:ext cx="3671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New features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age_group (four quantile-based groups) and purchase_frequency_days</a:t>
            </a:r>
            <a:endParaRPr lang="en-US" sz="2000" dirty="0"/>
          </a:p>
        </p:txBody>
      </p:sp>
      <p:sp>
        <p:nvSpPr>
          <p:cNvPr id="15" name="Redundant field removed card"/>
          <p:cNvSpPr/>
          <p:nvPr/>
        </p:nvSpPr>
        <p:spPr>
          <a:xfrm>
            <a:off x="6231636" y="3886200"/>
            <a:ext cx="540867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Redundant field removed circle"/>
          <p:cNvSpPr/>
          <p:nvPr/>
        </p:nvSpPr>
        <p:spPr>
          <a:xfrm>
            <a:off x="6551676" y="4251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dundant field removed icon" descr="Redundant field remove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4577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48956" y="4114800"/>
            <a:ext cx="3671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Redundant field removed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promo_code_used matched discount_applied exactly, so it was dropped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Ten business questions answered with SQL</a:t>
            </a:r>
            <a:endParaRPr lang="en-US" sz="3400" dirty="0"/>
          </a:p>
        </p:txBody>
      </p:sp>
      <p:sp>
        <p:nvSpPr>
          <p:cNvPr id="3" name="Question 1"/>
          <p:cNvSpPr/>
          <p:nvPr/>
        </p:nvSpPr>
        <p:spPr>
          <a:xfrm>
            <a:off x="548640" y="146304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by gender</a:t>
            </a:r>
            <a:endParaRPr lang="en-US" sz="1600" dirty="0"/>
          </a:p>
        </p:txBody>
      </p:sp>
      <p:sp>
        <p:nvSpPr>
          <p:cNvPr id="6" name="Question 2"/>
          <p:cNvSpPr/>
          <p:nvPr/>
        </p:nvSpPr>
        <p:spPr>
          <a:xfrm>
            <a:off x="2812694" y="146304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41294" y="164592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041294" y="233172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Discount users who spend above average</a:t>
            </a:r>
            <a:endParaRPr lang="en-US" sz="1600" dirty="0"/>
          </a:p>
        </p:txBody>
      </p:sp>
      <p:sp>
        <p:nvSpPr>
          <p:cNvPr id="9" name="Question 3"/>
          <p:cNvSpPr/>
          <p:nvPr/>
        </p:nvSpPr>
        <p:spPr>
          <a:xfrm>
            <a:off x="5076749" y="146304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5349" y="164592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305349" y="233172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Highest-rated products</a:t>
            </a:r>
            <a:endParaRPr lang="en-US" sz="1600" dirty="0"/>
          </a:p>
        </p:txBody>
      </p:sp>
      <p:sp>
        <p:nvSpPr>
          <p:cNvPr id="12" name="Question 4"/>
          <p:cNvSpPr/>
          <p:nvPr/>
        </p:nvSpPr>
        <p:spPr>
          <a:xfrm>
            <a:off x="7340803" y="146304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69403" y="164592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569403" y="233172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Standard vs Express shipping</a:t>
            </a:r>
            <a:endParaRPr lang="en-US" sz="1600" dirty="0"/>
          </a:p>
        </p:txBody>
      </p:sp>
      <p:sp>
        <p:nvSpPr>
          <p:cNvPr id="15" name="Question 5"/>
          <p:cNvSpPr/>
          <p:nvPr/>
        </p:nvSpPr>
        <p:spPr>
          <a:xfrm>
            <a:off x="9604858" y="146304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33458" y="164592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833458" y="233172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Subscribers vs non-subscribers</a:t>
            </a:r>
            <a:endParaRPr lang="en-US" sz="1600" dirty="0"/>
          </a:p>
        </p:txBody>
      </p:sp>
      <p:sp>
        <p:nvSpPr>
          <p:cNvPr id="18" name="Question 6"/>
          <p:cNvSpPr/>
          <p:nvPr/>
        </p:nvSpPr>
        <p:spPr>
          <a:xfrm>
            <a:off x="548640" y="384048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2336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0916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Products with the highest discount rate</a:t>
            </a:r>
            <a:endParaRPr lang="en-US" sz="1600" dirty="0"/>
          </a:p>
        </p:txBody>
      </p:sp>
      <p:sp>
        <p:nvSpPr>
          <p:cNvPr id="21" name="Question 7"/>
          <p:cNvSpPr/>
          <p:nvPr/>
        </p:nvSpPr>
        <p:spPr>
          <a:xfrm>
            <a:off x="2812694" y="384048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41294" y="402336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07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3041294" y="470916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New, Returning and Loyal segments</a:t>
            </a:r>
            <a:endParaRPr lang="en-US" sz="1600" dirty="0"/>
          </a:p>
        </p:txBody>
      </p:sp>
      <p:sp>
        <p:nvSpPr>
          <p:cNvPr id="24" name="Question 8"/>
          <p:cNvSpPr/>
          <p:nvPr/>
        </p:nvSpPr>
        <p:spPr>
          <a:xfrm>
            <a:off x="5076749" y="384048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05349" y="402336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08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5305349" y="470916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Top 3 products in each category</a:t>
            </a:r>
            <a:endParaRPr lang="en-US" sz="1600" dirty="0"/>
          </a:p>
        </p:txBody>
      </p:sp>
      <p:sp>
        <p:nvSpPr>
          <p:cNvPr id="27" name="Question 9"/>
          <p:cNvSpPr/>
          <p:nvPr/>
        </p:nvSpPr>
        <p:spPr>
          <a:xfrm>
            <a:off x="7340803" y="384048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69403" y="402336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09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7569403" y="470916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Repeat buyers and subscription</a:t>
            </a:r>
            <a:endParaRPr lang="en-US" sz="1600" dirty="0"/>
          </a:p>
        </p:txBody>
      </p:sp>
      <p:sp>
        <p:nvSpPr>
          <p:cNvPr id="30" name="Question 10"/>
          <p:cNvSpPr/>
          <p:nvPr/>
        </p:nvSpPr>
        <p:spPr>
          <a:xfrm>
            <a:off x="9604858" y="3840480"/>
            <a:ext cx="2035454" cy="21031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33458" y="402336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10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9833458" y="4709160"/>
            <a:ext cx="157825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by age group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Customer segments by purchase history</a:t>
            </a:r>
            <a:endParaRPr lang="en-US" sz="3400" dirty="0"/>
          </a:p>
        </p:txBody>
      </p:sp>
      <p:sp>
        <p:nvSpPr>
          <p:cNvPr id="3" name="New card"/>
          <p:cNvSpPr/>
          <p:nvPr/>
        </p:nvSpPr>
        <p:spPr>
          <a:xfrm>
            <a:off x="548640" y="329184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New circle"/>
          <p:cNvSpPr/>
          <p:nvPr/>
        </p:nvSpPr>
        <p:spPr>
          <a:xfrm>
            <a:off x="868680" y="3566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ew icon" descr="Ne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749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4480560"/>
            <a:ext cx="2874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New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previous purchase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Focus on onboarding</a:t>
            </a:r>
            <a:endParaRPr lang="en-US" sz="2400" dirty="0"/>
          </a:p>
        </p:txBody>
      </p:sp>
      <p:sp>
        <p:nvSpPr>
          <p:cNvPr id="7" name="Returning card"/>
          <p:cNvSpPr/>
          <p:nvPr/>
        </p:nvSpPr>
        <p:spPr>
          <a:xfrm>
            <a:off x="4337304" y="2560320"/>
            <a:ext cx="3514344" cy="3474720"/>
          </a:xfrm>
          <a:prstGeom prst="roundRect">
            <a:avLst>
              <a:gd name="adj" fmla="val 3158"/>
            </a:avLst>
          </a:prstGeom>
          <a:solidFill>
            <a:schemeClr val="accent1"/>
          </a:solidFill>
          <a:ln/>
        </p:spPr>
      </p:sp>
      <p:sp>
        <p:nvSpPr>
          <p:cNvPr id="8" name="Returning circle"/>
          <p:cNvSpPr/>
          <p:nvPr/>
        </p:nvSpPr>
        <p:spPr>
          <a:xfrm>
            <a:off x="4657344" y="2834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eturning icon" descr="Return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224" y="3017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57344" y="3749040"/>
            <a:ext cx="2874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Returning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 to 10 previous purchases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Encourage repeat purchases</a:t>
            </a:r>
            <a:endParaRPr lang="en-US" sz="2400" dirty="0"/>
          </a:p>
        </p:txBody>
      </p:sp>
      <p:sp>
        <p:nvSpPr>
          <p:cNvPr id="11" name="Loyal card"/>
          <p:cNvSpPr/>
          <p:nvPr/>
        </p:nvSpPr>
        <p:spPr>
          <a:xfrm>
            <a:off x="8125968" y="1828800"/>
            <a:ext cx="3514344" cy="4206240"/>
          </a:xfrm>
          <a:prstGeom prst="roundRect">
            <a:avLst>
              <a:gd name="adj" fmla="val 3122"/>
            </a:avLst>
          </a:prstGeom>
          <a:solidFill>
            <a:schemeClr val="tx2"/>
          </a:solidFill>
          <a:ln/>
        </p:spPr>
      </p:sp>
      <p:sp>
        <p:nvSpPr>
          <p:cNvPr id="12" name="Loyal circle"/>
          <p:cNvSpPr/>
          <p:nvPr/>
        </p:nvSpPr>
        <p:spPr>
          <a:xfrm>
            <a:off x="8446008" y="2103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Loyal icon" descr="Loy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86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46008" y="3017520"/>
            <a:ext cx="2874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Loyal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More than 10 previous purchases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Reward and retain with loyalty initiatives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Dashboard at a glance</a:t>
            </a:r>
            <a:endParaRPr lang="en-US" sz="3400" dirty="0"/>
          </a:p>
        </p:txBody>
      </p:sp>
      <p:sp>
        <p:nvSpPr>
          <p:cNvPr id="3" name="KPI 1"/>
          <p:cNvSpPr/>
          <p:nvPr/>
        </p:nvSpPr>
        <p:spPr>
          <a:xfrm>
            <a:off x="548640" y="1463040"/>
            <a:ext cx="28803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$59.76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Average purchase amount</a:t>
            </a:r>
            <a:endParaRPr lang="en-US" sz="1400" dirty="0"/>
          </a:p>
        </p:txBody>
      </p:sp>
      <p:sp>
        <p:nvSpPr>
          <p:cNvPr id="6" name="KPI 2"/>
          <p:cNvSpPr/>
          <p:nvPr/>
        </p:nvSpPr>
        <p:spPr>
          <a:xfrm>
            <a:off x="3703320" y="1463040"/>
            <a:ext cx="288036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86200" y="1691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3.75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26517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Average review rating</a:t>
            </a:r>
            <a:endParaRPr lang="en-US" sz="1400" dirty="0"/>
          </a:p>
        </p:txBody>
      </p:sp>
      <p:sp>
        <p:nvSpPr>
          <p:cNvPr id="9" name="KPI 3"/>
          <p:cNvSpPr/>
          <p:nvPr/>
        </p:nvSpPr>
        <p:spPr>
          <a:xfrm>
            <a:off x="548640" y="3931920"/>
            <a:ext cx="288036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160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27%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Customers with a subscription</a:t>
            </a:r>
            <a:endParaRPr lang="en-US" sz="1400" dirty="0"/>
          </a:p>
        </p:txBody>
      </p:sp>
      <p:sp>
        <p:nvSpPr>
          <p:cNvPr id="12" name="KPI 4"/>
          <p:cNvSpPr/>
          <p:nvPr/>
        </p:nvSpPr>
        <p:spPr>
          <a:xfrm>
            <a:off x="3703320" y="3931920"/>
            <a:ext cx="288036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86200" y="41605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1,737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51206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Customers buying Clothing, the top category</a:t>
            </a:r>
            <a:endParaRPr lang="en-US" sz="1400" dirty="0"/>
          </a:p>
        </p:txBody>
      </p:sp>
      <p:sp>
        <p:nvSpPr>
          <p:cNvPr id="15" name="Chart card"/>
          <p:cNvSpPr/>
          <p:nvPr/>
        </p:nvSpPr>
        <p:spPr>
          <a:xfrm>
            <a:off x="6858000" y="1463040"/>
            <a:ext cx="478231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Subscription distribution</a:t>
            </a:r>
            <a:endParaRPr lang="en-US" sz="1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040880" y="2103120"/>
          <a:ext cx="4416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Figures read from the Power BI dashboard. Filters: subscription, gender, category, shipping type.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Business recommendations</a:t>
            </a:r>
            <a:endParaRPr lang="en-US" sz="3400" dirty="0"/>
          </a:p>
        </p:txBody>
      </p:sp>
      <p:sp>
        <p:nvSpPr>
          <p:cNvPr id="3" name="Grow subscriptions card"/>
          <p:cNvSpPr/>
          <p:nvPr/>
        </p:nvSpPr>
        <p:spPr>
          <a:xfrm>
            <a:off x="548640" y="146304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Grow subscriptions 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row subscriptions icon" descr="Grow subscrip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Grow subscriptions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Promote subscriber benefits; track adoption and spend before and after.</a:t>
            </a:r>
            <a:endParaRPr lang="en-US" sz="1400" dirty="0"/>
          </a:p>
        </p:txBody>
      </p:sp>
      <p:sp>
        <p:nvSpPr>
          <p:cNvPr id="8" name="Strengthen loyalty card"/>
          <p:cNvSpPr/>
          <p:nvPr/>
        </p:nvSpPr>
        <p:spPr>
          <a:xfrm>
            <a:off x="4337304" y="146304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trengthen loyalty circle"/>
          <p:cNvSpPr/>
          <p:nvPr/>
        </p:nvSpPr>
        <p:spPr>
          <a:xfrm>
            <a:off x="4611624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trengthen loyalty icon" descr="Strengthen loyalt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8864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Strengthen loyalty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51460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repeat buyers and track progress toward the Loyal segment.</a:t>
            </a:r>
            <a:endParaRPr lang="en-US" sz="1400" dirty="0"/>
          </a:p>
        </p:txBody>
      </p:sp>
      <p:sp>
        <p:nvSpPr>
          <p:cNvPr id="13" name="Review discount policy card"/>
          <p:cNvSpPr/>
          <p:nvPr/>
        </p:nvSpPr>
        <p:spPr>
          <a:xfrm>
            <a:off x="8125968" y="146304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Review discount policy circle"/>
          <p:cNvSpPr/>
          <p:nvPr/>
        </p:nvSpPr>
        <p:spPr>
          <a:xfrm>
            <a:off x="840028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eview discount policy icon" descr="Review discount polic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08" y="18973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7528" y="173736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 discount policy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51460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Watch high-discount products and weigh margin, not just revenue.</a:t>
            </a:r>
            <a:endParaRPr lang="en-US" sz="1400" dirty="0"/>
          </a:p>
        </p:txBody>
      </p:sp>
      <p:sp>
        <p:nvSpPr>
          <p:cNvPr id="18" name="Improve product positioning card"/>
          <p:cNvSpPr/>
          <p:nvPr/>
        </p:nvSpPr>
        <p:spPr>
          <a:xfrm>
            <a:off x="548640" y="393192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mprove product positioning circle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prove product positioning icon" descr="Improve product position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662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2062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Improve product positioning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ratings and purchase counts together to pick campaign items.</a:t>
            </a:r>
            <a:endParaRPr lang="en-US" sz="1400" dirty="0"/>
          </a:p>
        </p:txBody>
      </p:sp>
      <p:sp>
        <p:nvSpPr>
          <p:cNvPr id="23" name="Target campaigns carefully card"/>
          <p:cNvSpPr/>
          <p:nvPr/>
        </p:nvSpPr>
        <p:spPr>
          <a:xfrm>
            <a:off x="4337304" y="393192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Target campaigns carefully circle"/>
          <p:cNvSpPr/>
          <p:nvPr/>
        </p:nvSpPr>
        <p:spPr>
          <a:xfrm>
            <a:off x="4611624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Target campaigns carefully icon" descr="Target campaigns carefull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644" y="43662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88864" y="42062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Target campaigns carefully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498348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Tailor messages by validated age group and segment, not totals alone.</a:t>
            </a:r>
            <a:endParaRPr lang="en-US" sz="1400" dirty="0"/>
          </a:p>
        </p:txBody>
      </p:sp>
      <p:sp>
        <p:nvSpPr>
          <p:cNvPr id="28" name="Evaluate shipping options card"/>
          <p:cNvSpPr/>
          <p:nvPr/>
        </p:nvSpPr>
        <p:spPr>
          <a:xfrm>
            <a:off x="8125968" y="393192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Evaluate shipping options circle"/>
          <p:cNvSpPr/>
          <p:nvPr/>
        </p:nvSpPr>
        <p:spPr>
          <a:xfrm>
            <a:off x="8400288" y="42062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Evaluate shipping options icon" descr="Evaluate shipping option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308" y="436626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77528" y="420624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Evaluate shipping options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498348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Standard and Express spend without assuming cause and effect.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Step number 1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2011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Run and validate all ten SQL queries</a:t>
            </a:r>
            <a:endParaRPr lang="en-US" sz="2400" dirty="0"/>
          </a:p>
        </p:txBody>
      </p:sp>
      <p:sp>
        <p:nvSpPr>
          <p:cNvPr id="6" name="Step number 2"/>
          <p:cNvSpPr/>
          <p:nvPr/>
        </p:nvSpPr>
        <p:spPr>
          <a:xfrm>
            <a:off x="731520" y="31089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108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Reconcile the results with the Power BI dashboard</a:t>
            </a:r>
            <a:endParaRPr lang="en-US" sz="2400" dirty="0"/>
          </a:p>
        </p:txBody>
      </p:sp>
      <p:sp>
        <p:nvSpPr>
          <p:cNvPr id="9" name="Step number 3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206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Add quantified findings to the report and README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Thank you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Anand Shelake  |  github.com/anandshelake-10  |  linkedin.com/in/anand-shelake-33464922b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Insights">
  <a:themeElements>
    <a:clrScheme name="Retail Insights">
      <a:dk1>
        <a:srgbClr val="1B2A33"/>
      </a:dk1>
      <a:lt1>
        <a:srgbClr val="FFFFFF"/>
      </a:lt1>
      <a:dk2>
        <a:srgbClr val="0B3C49"/>
      </a:dk2>
      <a:lt2>
        <a:srgbClr val="EAF4F2"/>
      </a:lt2>
      <a:accent1>
        <a:srgbClr val="0F7C8A"/>
      </a:accent1>
      <a:accent2>
        <a:srgbClr val="F28C38"/>
      </a:accent2>
      <a:accent3>
        <a:srgbClr val="5BB5A2"/>
      </a:accent3>
      <a:accent4>
        <a:srgbClr val="F6C26B"/>
      </a:accent4>
      <a:accent5>
        <a:srgbClr val="7A8B99"/>
      </a:accent5>
      <a:accent6>
        <a:srgbClr val="C8553D"/>
      </a:accent6>
      <a:hlink>
        <a:srgbClr val="0F7C8A"/>
      </a:hlink>
      <a:folHlink>
        <a:srgbClr val="7A8B99"/>
      </a:folHlink>
    </a:clrScheme>
    <a:fontScheme name="Retail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Anand Shelake</dc:creator>
  <cp:lastModifiedBy>Anand Shelake</cp:lastModifiedBy>
  <cp:revision>1</cp:revision>
  <dcterms:created xsi:type="dcterms:W3CDTF">2026-10-22T17:58:47Z</dcterms:created>
  <dcterms:modified xsi:type="dcterms:W3CDTF">2026-10-22T17:58:47Z</dcterms:modified>
</cp:coreProperties>
</file>